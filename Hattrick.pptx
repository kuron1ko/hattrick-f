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大家好，我今天汇报的是 Hattrick 的复现与改进。这篇论文发表在 SIGCOMM 2025，研究的是多优先级流量工程。我先介绍原方法和复现结果，再重点讲高负载下的一个训练策略调整，以及目前观察到的效果和不足。</a:t>
            </a:r>
          </a:p>
          <a:p/>
          <a:p>
            <a:r>
              <a:t>讲述提示：约 20 秒。</a:t>
            </a:r>
          </a:p>
          <a:p/>
          <a:p>
            <a:r>
              <a:t>[Sources]</a:t>
            </a:r>
          </a:p>
          <a:p>
            <a:r>
              <a:t>- Hattrick 论文首页：Hattrick: Solving Multiclass TE using Neural Models, ACM SIGCOMM 2025。</a:t>
            </a:r>
          </a:p>
          <a:p>
            <a:r>
              <a:t>- 复现报告：李天阳-Hattrick复现与改进.docx。</a:t>
            </a:r>
          </a:p>
          <a:p>
            <a:r>
              <a:t>- 模板与校徽：Zhang Yunpeng, BUPT Beamer, CC BY 4.0, https://www.overleaf.com/latex/templates/bupt-beamer/qxypmkbpngfq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论文研究的是多类别流量工程。云和 ISP 广域网同时承载 High、Medium、Low 等不同优先级业务，而路由依据预测流量矩阵提前生成；真实需求偏离预测时，原本可行的方案仍可能出现链路超载。论文因此关注如何设计优先级感知的机器学习流量工程系统，在不损害高优先级业务的前提下应对预测误差。</a:t>
            </a:r>
          </a:p>
          <a:p/>
          <a:p>
            <a:r>
              <a:t>本次工作首先在 GEANT 上复现 Hattrick，并与 BEST_MC、SWAN 对比；随后构造两倍和三倍负载场景。针对高负载下 Medium 下降的问题，提出 Hattrick-f3。它不改变推理结构，而是在训练阶段平滑调整两组投影梯度的组合。</a:t>
            </a:r>
          </a:p>
          <a:p/>
          <a:p>
            <a:r>
              <a:t>[Sources]</a:t>
            </a:r>
          </a:p>
          <a:p>
            <a:r>
              <a:t>- Hattrick 论文摘要、§1、§2。</a:t>
            </a:r>
          </a:p>
          <a:p>
            <a:r>
              <a:t>- 复现报告第 1 节、第 10 节。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先看原论文的这张结构图。左侧输入是三类预测流量，模型分三个阶段处理，最终输出每类流量在候选路径上的分流比例。这里比较重要的是，后续阶段还能调整前面已经产生的路由，而不是一旦分配给 High 就把路径固定下来。</a:t>
            </a:r>
          </a:p>
          <a:p/>
          <a:p>
            <a:r>
              <a:t>训练时，右侧模拟器接收分流决策和真实需求，按优先级处理链路超限，计算实际成功承载的流量。真实未来需求用于训练评价，推理时并不需要提前知道。</a:t>
            </a:r>
          </a:p>
          <a:p/>
          <a:p>
            <a:r>
              <a:t>学习目标也有先后顺序：先优化 High 的满足率，再考虑 High 的 MLU，然后依次处理前两类和全部类别。F 上标 hm 指 High 和 Medium 合并考虑，不能把它理解成单独的 Medium。论文通过梯度投影处理这些有优先级的目标。</a:t>
            </a:r>
          </a:p>
          <a:p/>
          <a:p>
            <a:r>
              <a:t>讲述提示：约 85 秒。图上 U 项在实际损失中取跨阶段最大值，不要宣称梯度投影保证每个测试样本都严格无损。</a:t>
            </a:r>
          </a:p>
          <a:p/>
          <a:p>
            <a:r>
              <a:t>[Sources]</a:t>
            </a:r>
          </a:p>
          <a:p>
            <a:r>
              <a:t>- Hattrick 论文 Figure 2、Table 1、§3.1-§3.3。</a:t>
            </a:r>
          </a:p>
          <a:p>
            <a:r>
              <a:t>- 本页架构图为论文 Figure 2 的原始裁剪。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这一页只说明本次复现与原论文的范围差异。本次仅使用公开的 GEANT 数据集，没有使用论文中的 PrivateWAN 私密数据；同时受训练时间和计算资源限制，没有开展 UsCarrier、KDL 等大拓扑实验。</a:t>
            </a:r>
          </a:p>
          <a:p/>
          <a:p>
            <a:r>
              <a:t>[Sources]</a:t>
            </a:r>
          </a:p>
          <a:p>
            <a:r>
              <a:t>- 复现报告第 2 节。</a:t>
            </a:r>
          </a:p>
          <a:p>
            <a:r>
              <a:t>- Hattrick 论文 §4、§5.3。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上方是本次复现得到的 GEANT CDF，下方是论文 Figure 4。三幅子图均依次对应 High、Medium 和 Low，并比较 Hattrick、BEST_MC 与 SWAN。整体曲线趋势一致；定量上的 Mean、P10 与 P1 在下一页展开。</a:t>
            </a:r>
          </a:p>
          <a:p/>
          <a:p>
            <a:r>
              <a:t>[Sources]</a:t>
            </a:r>
          </a:p>
          <a:p>
            <a:r>
              <a:t>- 复现报告图 1：GEANT NormFulFill CDF。</a:t>
            </a:r>
          </a:p>
          <a:p>
            <a:r>
              <a:t>- Hattrick 论文 Figure 4。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单元格按论文值和复现值排列。论文正文给出了 P10 与 P1，但没有单独报告 Mean，因此 Mean 的论文位置标记为未报告。复现 Mean 在 High、Medium、Low 上分别为 1.000000、0.999233、1.006312；P10 最大绝对差为 0.002676，P1 最大绝对差为 0.008344，关键尾部分位总体接近论文。</a:t>
            </a:r>
          </a:p>
          <a:p/>
          <a:p>
            <a:r>
              <a:t>[Sources]</a:t>
            </a:r>
          </a:p>
          <a:p>
            <a:r>
              <a:t>- 复现报告表 4：Mean、P10、P1。</a:t>
            </a:r>
          </a:p>
          <a:p>
            <a:r>
              <a:t>- Hattrick 论文 Figure 4 及 GEANT 实验正文。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2x 和 3x 不是修改网络拓扑或链路容量，而是将 GEANT 中的流量需求统一放大两倍或三倍。对于每个时刻、每个源目的节点对和每个优先级，都使用相同的缩放系数。这样保留了原数据的结构和时序特征，只提高网络所承受的负载压力。</a:t>
            </a:r>
          </a:p>
          <a:p/>
          <a:p>
            <a:r>
              <a:t>训练集、开发集和测试集的划分与 1x 实验保持一致，使不同负载下的结果可以直接对比。</a:t>
            </a:r>
          </a:p>
          <a:p/>
          <a:p>
            <a:r>
              <a:t>[Sources]</a:t>
            </a:r>
          </a:p>
          <a:p>
            <a:r>
              <a:t>- 李天阳-Hattrick复现与改进.docx，第 10.2 节“数据处理”。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我把需求放大到两倍和三倍后，观察到 High 的表现整体接近参考值，但 Medium 更容易下降。这引出了一个问题：原来的训练目标顺序在更高负载下，是否仍然适合当前希望改善的指标？</a:t>
            </a:r>
          </a:p>
          <a:p/>
          <a:p>
            <a:r>
              <a:t>原论文保留 MLU 是有原因的。满足率接近饱和时，梯度可能很小，MLU 可以继续提供学习信号，并在多个相近方案之间选择利用率较低的分配。我的假设是，当负载升高后，这个辅助目标也可能限制 Medium 的进一步优化。因此尝试在已经训练好的模型上逐步减弱它，同时观察其他类别的代价。</a:t>
            </a:r>
          </a:p>
          <a:p/>
          <a:p>
            <a:r>
              <a:t>[Sources]</a:t>
            </a:r>
          </a:p>
          <a:p>
            <a:r>
              <a:t>- Hattrick 论文 §3.1-§3.3。</a:t>
            </a:r>
          </a:p>
          <a:p>
            <a:r>
              <a:t>- 复现报告第 10 节。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Hattrick-f3 没有增加新的推理结构，主要调整训练过程。首先训练二十个 epoch 的 Hattrick，从 High 的平均表现达到门槛的候选中，依次优先比较 Medium 的 Mean、P10 和 P1，选一个初始化模型，然后重新初始化 Adam。</a:t>
            </a:r>
          </a:p>
          <a:p/>
          <a:p>
            <a:r>
              <a:t>接下来，分别计算两套梯度。第一套对应原来的六项目标，第二套只对应三个累计流量目标。两套梯度都先按原方法完成投影，再通过这里的公式混合。前十二个 epoch 中，alpha 按余弦方式从一降到零，后面就只保留流量目标对应的投影梯度。</a:t>
            </a:r>
          </a:p>
          <a:p/>
          <a:p>
            <a:r>
              <a:t>这样做的想法是保留初始训练形成的分配基础，再平滑调整优化方向。这里要注意，这不是简单把三个 MLU 损失乘上逐渐变小的系数，因为混合发生在分别投影之后。收益是否确实来自这个调整，还需要与相同训练预算及相同优化器重置方式的基线比较。</a:t>
            </a:r>
          </a:p>
          <a:p/>
          <a:p>
            <a:r>
              <a:t>讲述提示：约 95 秒。原报告未交代用于选模型的数据集及微调总轮数，需要后续确认。</a:t>
            </a:r>
          </a:p>
          <a:p/>
          <a:p>
            <a:r>
              <a:t>[Sources]</a:t>
            </a:r>
          </a:p>
          <a:p>
            <a:r>
              <a:t>- 复现报告第 10 节训练步骤及公式 (1)-(4)。</a:t>
            </a:r>
          </a:p>
          <a:p>
            <a:r>
              <a:t>- Hattrick 论文 Function 1。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这一页将两倍和三倍负载竖向排列。每张图从左到右依次是 High、Medium 和 Low，蓝色实线是 Hattrick，橙色虚线是 Hattrick-f3。Medium 在两倍负载下开始右移，在三倍负载下变化更明显；High 整体接近，Low 则出现部分回落。</a:t>
            </a:r>
          </a:p>
          <a:p/>
          <a:p>
            <a:r>
              <a:t>[Sources]</a:t>
            </a:r>
          </a:p>
          <a:p>
            <a:r>
              <a:t>- 复现报告 2x、3x 负载 CDF 图。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一倍负载下，Hattrick 与 Hattrick-f3 的曲线基本重合。说明训练策略调整主要在高负载压力增大时体现作用，在常规负载下没有带来明显变化。</a:t>
            </a:r>
          </a:p>
          <a:p/>
          <a:p>
            <a:r>
              <a:t>[Sources]</a:t>
            </a:r>
          </a:p>
          <a:p>
            <a:r>
              <a:t>- 复现报告 1x 负载 CDF 图。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本次工作完成了当前 GEANT 配置下的复现，Hattrick 的关键分位指标与论文比较接近；同时尝试了一个渐进撤去 MLU 目标影响的训练阶段，在高负载下观察到 Medium 改善，但 Low 存在一定代价。</a:t>
            </a:r>
          </a:p>
          <a:p/>
          <a:p>
            <a:r>
              <a:t>接下来我会先核对类别拆分和评价口径，补齐各类精确指标，再做等训练预算和多随机种子的对照。除了满足率，也需要检查链路利用率、容量超限带来的影响以及实际推理开销，判断这项改动是否稳定、是否值得保留。</a:t>
            </a:r>
          </a:p>
          <a:p/>
          <a:p>
            <a:r>
              <a:t>讲述提示：约 50 秒。</a:t>
            </a:r>
          </a:p>
          <a:p/>
          <a:p>
            <a:r>
              <a:t>[Sources]</a:t>
            </a:r>
          </a:p>
          <a:p>
            <a:r>
              <a:t>- Hattrick 论文及复现报告。</a:t>
            </a:r>
          </a:p>
          <a:p>
            <a:r>
              <a:t>- 后续实验项为基于当前材料提出的验证计划，并非已完成实验。</a:t>
            </a:r>
          </a:p>
          <a:p>
            <a:r>
              <a:t>- 视觉模板：Zhang Yunpeng, BUPT Beamer, 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我的汇报到这里，谢谢大家，欢迎老师和同学批评指正。</a:t>
            </a:r>
          </a:p>
          <a:p/>
          <a:p>
            <a:r>
              <a:t>讲述提示：约 10 秒。可以围绕 MLU 调整动机、训练对照及数据口径展开讨论。</a:t>
            </a:r>
          </a:p>
          <a:p/>
          <a:p>
            <a:r>
              <a:t>[Sources]</a:t>
            </a:r>
          </a:p>
          <a:p>
            <a:r>
              <a:t>- 模板与校徽：Zhang Yunpeng, BUPT Beamer, CC BY 4.0, https://www.overleaf.com/latex/templates/bupt-beamer/qxypmkbpngfq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nav-bg-1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1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1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1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1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1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1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1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1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1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1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ooter-one-1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footer-two-1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4" name="footer-author-1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ooter-school-1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ooter-title-1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page-1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over-title-panel"/>
          <p:cNvSpPr>
            <a:spLocks noGrp="1"/>
          </p:cNvSpPr>
          <p:nvPr/>
        </p:nvSpPr>
        <p:spPr>
          <a:xfrm>
            <a:off x="762000" y="1219200"/>
            <a:ext cx="10668000" cy="1676400"/>
          </a:xfrm>
          <a:prstGeom prst="roundRect">
            <a:avLst>
              <a:gd name="adj" fmla="val 6818"/>
            </a:avLst>
          </a:prstGeom>
          <a:solidFill>
            <a:srgbClr val="3B39BE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9" name="cover-title"/>
          <p:cNvSpPr>
            <a:spLocks noGrp="1"/>
          </p:cNvSpPr>
          <p:nvPr/>
        </p:nvSpPr>
        <p:spPr>
          <a:xfrm>
            <a:off x="1524000" y="1805305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3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33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over-paper"/>
          <p:cNvSpPr>
            <a:spLocks noGrp="1"/>
          </p:cNvSpPr>
          <p:nvPr/>
        </p:nvSpPr>
        <p:spPr>
          <a:xfrm>
            <a:off x="2809875" y="3800475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1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论文：Hattrick: Solving Multiclass TE using Neural Models</a:t>
            </a:r>
            <a:endParaRPr sz="1350" b="0" i="1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over-venue"/>
          <p:cNvSpPr>
            <a:spLocks noGrp="1"/>
          </p:cNvSpPr>
          <p:nvPr/>
        </p:nvSpPr>
        <p:spPr>
          <a:xfrm>
            <a:off x="4286250" y="4114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 SIGCOMM 2025</a:t>
            </a:r>
            <a:endParaRPr sz="142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6822" y="4667250"/>
            <a:ext cx="4598356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nav-bg-2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2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2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●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2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2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2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2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2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2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2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2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2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2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研究问题与本次工作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2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2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2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2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2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2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1"/>
          <p:cNvSpPr>
            <a:spLocks noGrp="1"/>
          </p:cNvSpPr>
          <p:nvPr/>
        </p:nvSpPr>
        <p:spPr>
          <a:xfrm>
            <a:off x="419100" y="157162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</a:t>
            </a:r>
            <a:endParaRPr sz="1650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1" name="research-question"/>
          <p:cNvSpPr>
            <a:spLocks noGrp="1"/>
          </p:cNvSpPr>
          <p:nvPr/>
        </p:nvSpPr>
        <p:spPr>
          <a:xfrm>
            <a:off x="419100" y="1971675"/>
            <a:ext cx="11353800" cy="1929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云和 ISP 广域网同时承载多个优先级业务，不同类别具有不同服务目标。路由依据预测流量矩阵生成，真实需求偏离预测时可能造成链路超载。论文关注如何设计优先级感知的 ML-TE，使其在预测误差下优于传统“先预测、再优化”方法。</a:t>
            </a:r>
            <a:endParaRPr sz="160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在给定的网络拓扑中，各源</a:t>
            </a:r>
            <a:r>
              <a:rPr sz="160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-</a:t>
            </a:r>
            <a:r>
              <a:rPr sz="160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的点间存在随时间变化的流量需求。流量需求具有高，中，低三种优先级。已知历史流量和网络拓扑，找到一种分配方案，使（高优先级满足率，中优先级满足率，低优先级满足率）的字典序最大。作者提出了三阶段机器学习方案</a:t>
            </a:r>
            <a:r>
              <a:rPr sz="160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Hattrick </a:t>
            </a:r>
            <a:endParaRPr sz="160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2" name="problem-divider"/>
          <p:cNvSpPr>
            <a:spLocks noGrp="1"/>
          </p:cNvSpPr>
          <p:nvPr/>
        </p:nvSpPr>
        <p:spPr>
          <a:xfrm>
            <a:off x="419100" y="3996690"/>
            <a:ext cx="11353800" cy="19050"/>
          </a:xfrm>
          <a:prstGeom prst="rect">
            <a:avLst/>
          </a:prstGeom>
          <a:solidFill>
            <a:srgbClr val="D7D8F3"/>
          </a:solidFill>
          <a:ln w="0">
            <a:noFill/>
            <a:prstDash val="solid"/>
          </a:ln>
        </p:spPr>
      </p:sp>
      <p:sp>
        <p:nvSpPr>
          <p:cNvPr id="23" name="text-2"/>
          <p:cNvSpPr>
            <a:spLocks noGrp="1"/>
          </p:cNvSpPr>
          <p:nvPr/>
        </p:nvSpPr>
        <p:spPr>
          <a:xfrm>
            <a:off x="407035" y="455993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本次工作</a:t>
            </a:r>
            <a:endParaRPr sz="1650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4" name="work-body-1"/>
          <p:cNvSpPr>
            <a:spLocks noGrp="1"/>
          </p:cNvSpPr>
          <p:nvPr/>
        </p:nvSpPr>
        <p:spPr>
          <a:xfrm>
            <a:off x="407035" y="4940935"/>
            <a:ext cx="113538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本次工作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完成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了 baseline 和 Hattrick 的复现；随后基于 GEANT 构造 2x、3x 高负载数据集，分析原方法在压力增大时的性能变化。在此基础上提出 Hattrick-f3：不改变推理结构，仅在训练阶段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新增一组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投影梯度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，并通过退火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算法进行平滑组合</a:t>
            </a:r>
            <a:r>
              <a:rPr sz="157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sz="1725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6" name="work-body-2"/>
          <p:cNvSpPr>
            <a:spLocks noGrp="1"/>
          </p:cNvSpPr>
          <p:nvPr/>
        </p:nvSpPr>
        <p:spPr>
          <a:xfrm>
            <a:off x="4331335" y="4998085"/>
            <a:ext cx="3429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725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nav-bg-3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3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3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3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3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3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3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3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3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3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3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3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3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论文概览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3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3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3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3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3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3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5"/>
          <p:cNvSpPr>
            <a:spLocks noGrp="1"/>
          </p:cNvSpPr>
          <p:nvPr/>
        </p:nvSpPr>
        <p:spPr>
          <a:xfrm>
            <a:off x="419100" y="1857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5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</a:t>
            </a:r>
            <a:r>
              <a:rPr sz="165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sz="1650" b="0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ethod-body-1"/>
          <p:cNvSpPr>
            <a:spLocks noGrp="1"/>
          </p:cNvSpPr>
          <p:nvPr/>
        </p:nvSpPr>
        <p:spPr>
          <a:xfrm>
            <a:off x="407035" y="2254250"/>
            <a:ext cx="357949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包含三阶段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网络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和模拟器</a:t>
            </a:r>
            <a:endParaRPr sz="16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2" name="text-6"/>
          <p:cNvSpPr>
            <a:spLocks noGrp="1"/>
          </p:cNvSpPr>
          <p:nvPr/>
        </p:nvSpPr>
        <p:spPr>
          <a:xfrm>
            <a:off x="419100" y="285242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5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</a:t>
            </a:r>
            <a:endParaRPr sz="1650" b="0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method-body-2"/>
          <p:cNvSpPr>
            <a:spLocks noGrp="1"/>
          </p:cNvSpPr>
          <p:nvPr/>
        </p:nvSpPr>
        <p:spPr>
          <a:xfrm>
            <a:off x="419100" y="3438525"/>
            <a:ext cx="35147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5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4" name="text-7"/>
          <p:cNvSpPr>
            <a:spLocks noGrp="1"/>
          </p:cNvSpPr>
          <p:nvPr/>
        </p:nvSpPr>
        <p:spPr>
          <a:xfrm>
            <a:off x="407035" y="450913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5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  <a:endParaRPr sz="1650" b="0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method-body-3"/>
          <p:cNvSpPr>
            <a:spLocks noGrp="1"/>
          </p:cNvSpPr>
          <p:nvPr/>
        </p:nvSpPr>
        <p:spPr>
          <a:xfrm>
            <a:off x="407035" y="4871085"/>
            <a:ext cx="382524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串联反馈结构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simulator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梯度投影</a:t>
            </a:r>
            <a:endParaRPr sz="16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9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3385" y="2089785"/>
            <a:ext cx="8446135" cy="2239645"/>
          </a:xfrm>
          <a:prstGeom prst="rect">
            <a:avLst/>
          </a:prstGeom>
        </p:spPr>
      </p:pic>
      <p:sp>
        <p:nvSpPr>
          <p:cNvPr id="27" name="architecture-caption"/>
          <p:cNvSpPr>
            <a:spLocks noGrp="1"/>
          </p:cNvSpPr>
          <p:nvPr/>
        </p:nvSpPr>
        <p:spPr>
          <a:xfrm>
            <a:off x="5334000" y="48768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62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2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Figure 2：Hattrick 多阶段神经架构</a:t>
            </a:r>
            <a:endParaRPr sz="1200" b="0" i="0">
              <a:solidFill>
                <a:srgbClr val="62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method-body-1"/>
          <p:cNvSpPr>
            <a:spLocks noGrp="1"/>
          </p:cNvSpPr>
          <p:nvPr/>
        </p:nvSpPr>
        <p:spPr>
          <a:xfrm>
            <a:off x="419100" y="3284220"/>
            <a:ext cx="393446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具有优先级的六部分</a:t>
            </a:r>
            <a:endParaRPr sz="16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00"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−Fʰ ≺ Uʰ ≺ −Fʰᵐ ≺ Uʰᵐ ≺ −Fʰᵐˡ ≺ Uʰᵐˡ</a:t>
            </a:r>
            <a:endParaRPr sz="1600" b="0" i="0">
              <a:solidFill>
                <a:srgbClr val="15171D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600"/>
              <a:t>F </a:t>
            </a:r>
            <a:r>
              <a:rPr sz="1600"/>
              <a:t>表示归一化流量</a:t>
            </a:r>
            <a:r>
              <a:rPr sz="1600"/>
              <a:t>，</a:t>
            </a:r>
            <a:r>
              <a:rPr sz="1600"/>
              <a:t>U </a:t>
            </a:r>
            <a:r>
              <a:rPr sz="1600"/>
              <a:t>表示最大链路</a:t>
            </a:r>
            <a:r>
              <a:rPr sz="1600"/>
              <a:t>占用率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nav-bg-4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4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4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4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4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4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4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○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4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4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4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4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4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4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复现设置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4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4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4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4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4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4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etup-data"/>
          <p:cNvSpPr>
            <a:spLocks noGrp="1"/>
          </p:cNvSpPr>
          <p:nvPr/>
        </p:nvSpPr>
        <p:spPr>
          <a:xfrm>
            <a:off x="857250" y="2333625"/>
            <a:ext cx="10477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18000"/>
              </a:lnSpc>
              <a:spcAft>
                <a:spcPts val="10"/>
              </a:spcAft>
              <a:buNone/>
              <a:defRPr sz="1950" b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5171D"/>
                </a:solidFill>
              </a:rPr>
              <a:t>与原论文相比，本次复现仅使用公开的 GEANT 数据集，未使用 PrivateWAN 私密数据；同时受训练时间与计算资源限制，未开展 UsCarrier、KDL 等大拓扑实验。</a:t>
            </a:r>
            <a:endParaRPr sz="2000" b="0">
              <a:solidFill>
                <a:srgbClr val="1517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nav-bg-5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5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5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5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5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5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5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●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5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5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5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5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5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5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5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5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5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5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5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5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图片 57"/>
          <p:cNvPicPr>
            <a:picLocks noChangeAspect="1"/>
          </p:cNvPicPr>
          <p:nvPr/>
        </p:nvPicPr>
        <p:blipFill>
          <a:blip r:embed="rId1"/>
          <a:srcRect t="8500" b="2000"/>
          <a:stretch>
            <a:fillRect/>
          </a:stretch>
        </p:blipFill>
        <p:spPr>
          <a:xfrm>
            <a:off x="3333750" y="1066800"/>
            <a:ext cx="6477000" cy="3352800"/>
          </a:xfrm>
          <a:prstGeom prst="rect">
            <a:avLst/>
          </a:prstGeom>
        </p:spPr>
      </p:pic>
      <p:sp>
        <p:nvSpPr>
          <p:cNvPr id="21" name="reproduction-caption"/>
          <p:cNvSpPr>
            <a:spLocks noGrp="1"/>
          </p:cNvSpPr>
          <p:nvPr/>
        </p:nvSpPr>
        <p:spPr>
          <a:xfrm>
            <a:off x="1143000" y="25717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</a:t>
            </a:r>
            <a:endParaRPr sz="975" b="0" i="0">
              <a:solidFill>
                <a:srgbClr val="62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061" y="4457700"/>
            <a:ext cx="6476377" cy="1924050"/>
          </a:xfrm>
          <a:prstGeom prst="rect">
            <a:avLst/>
          </a:prstGeom>
        </p:spPr>
      </p:pic>
      <p:sp>
        <p:nvSpPr>
          <p:cNvPr id="42" name="paper-cdf-label"/>
          <p:cNvSpPr>
            <a:spLocks noGrp="1"/>
          </p:cNvSpPr>
          <p:nvPr/>
        </p:nvSpPr>
        <p:spPr>
          <a:xfrm>
            <a:off x="1143000" y="52197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sz="1800" b="1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nav-bg-5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5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5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5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5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5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5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●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5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5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5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5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5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5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5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5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5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5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5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5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able-line-1"/>
          <p:cNvSpPr>
            <a:spLocks noGrp="1"/>
          </p:cNvSpPr>
          <p:nvPr/>
        </p:nvSpPr>
        <p:spPr>
          <a:xfrm>
            <a:off x="1381125" y="1752600"/>
            <a:ext cx="94297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4" name="table-line-2"/>
          <p:cNvSpPr>
            <a:spLocks noGrp="1"/>
          </p:cNvSpPr>
          <p:nvPr/>
        </p:nvSpPr>
        <p:spPr>
          <a:xfrm>
            <a:off x="1381125" y="2343150"/>
            <a:ext cx="9429750" cy="95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5" name="table-line-3"/>
          <p:cNvSpPr>
            <a:spLocks noGrp="1"/>
          </p:cNvSpPr>
          <p:nvPr/>
        </p:nvSpPr>
        <p:spPr>
          <a:xfrm>
            <a:off x="1381125" y="4495800"/>
            <a:ext cx="94297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6" name="p1-cell-0-0"/>
          <p:cNvSpPr>
            <a:spLocks noGrp="1"/>
          </p:cNvSpPr>
          <p:nvPr/>
        </p:nvSpPr>
        <p:spPr>
          <a:xfrm>
            <a:off x="1381125" y="188595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1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endParaRPr sz="1425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7" name="p1-cell-0-1"/>
          <p:cNvSpPr>
            <a:spLocks noGrp="1"/>
          </p:cNvSpPr>
          <p:nvPr/>
        </p:nvSpPr>
        <p:spPr>
          <a:xfrm>
            <a:off x="2905125" y="18859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Mean</a:t>
            </a:r>
            <a:endParaRPr sz="142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1-cell-0-2"/>
          <p:cNvSpPr>
            <a:spLocks noGrp="1"/>
          </p:cNvSpPr>
          <p:nvPr/>
        </p:nvSpPr>
        <p:spPr>
          <a:xfrm>
            <a:off x="5667375" y="18859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P10</a:t>
            </a:r>
            <a:endParaRPr sz="142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p1-cell-1-0"/>
          <p:cNvSpPr>
            <a:spLocks noGrp="1"/>
          </p:cNvSpPr>
          <p:nvPr/>
        </p:nvSpPr>
        <p:spPr>
          <a:xfrm>
            <a:off x="1381125" y="25527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</a:t>
            </a:r>
            <a:endParaRPr sz="15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0" name="p1-cell-1-1"/>
          <p:cNvSpPr>
            <a:spLocks noGrp="1"/>
          </p:cNvSpPr>
          <p:nvPr/>
        </p:nvSpPr>
        <p:spPr>
          <a:xfrm>
            <a:off x="2905125" y="255270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未报告 / 1.000000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p1-cell-1-2"/>
          <p:cNvSpPr>
            <a:spLocks noGrp="1"/>
          </p:cNvSpPr>
          <p:nvPr/>
        </p:nvSpPr>
        <p:spPr>
          <a:xfrm>
            <a:off x="5667375" y="255270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1.000000 / 1.000000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p1-cell-2-0"/>
          <p:cNvSpPr>
            <a:spLocks noGrp="1"/>
          </p:cNvSpPr>
          <p:nvPr/>
        </p:nvSpPr>
        <p:spPr>
          <a:xfrm>
            <a:off x="1381125" y="3209925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Medium</a:t>
            </a:r>
            <a:endParaRPr sz="15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3" name="p1-cell-2-1"/>
          <p:cNvSpPr>
            <a:spLocks noGrp="1"/>
          </p:cNvSpPr>
          <p:nvPr/>
        </p:nvSpPr>
        <p:spPr>
          <a:xfrm>
            <a:off x="2905125" y="3209925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未报告 / 0.999233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p1-cell-2-2"/>
          <p:cNvSpPr>
            <a:spLocks noGrp="1"/>
          </p:cNvSpPr>
          <p:nvPr/>
        </p:nvSpPr>
        <p:spPr>
          <a:xfrm>
            <a:off x="5667375" y="3209925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1.000000 / 0.997324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p1-cell-3-0"/>
          <p:cNvSpPr>
            <a:spLocks noGrp="1"/>
          </p:cNvSpPr>
          <p:nvPr/>
        </p:nvSpPr>
        <p:spPr>
          <a:xfrm>
            <a:off x="1381125" y="38671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</a:t>
            </a:r>
            <a:endParaRPr sz="15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6" name="p1-cell-3-1"/>
          <p:cNvSpPr>
            <a:spLocks noGrp="1"/>
          </p:cNvSpPr>
          <p:nvPr/>
        </p:nvSpPr>
        <p:spPr>
          <a:xfrm>
            <a:off x="2905125" y="386715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未报告 / 1.006312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p1-cell-3-2"/>
          <p:cNvSpPr>
            <a:spLocks noGrp="1"/>
          </p:cNvSpPr>
          <p:nvPr/>
        </p:nvSpPr>
        <p:spPr>
          <a:xfrm>
            <a:off x="5667375" y="386715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 i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0.998600 / 0.996565</a:t>
            </a:r>
            <a:endParaRPr sz="1600" b="0" i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metric-cell-0-3"/>
          <p:cNvSpPr>
            <a:spLocks noGrp="1"/>
          </p:cNvSpPr>
          <p:nvPr/>
        </p:nvSpPr>
        <p:spPr>
          <a:xfrm>
            <a:off x="8429625" y="18859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P1</a:t>
            </a:r>
            <a:endParaRPr sz="1575" b="1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metric-cell-1-3"/>
          <p:cNvSpPr>
            <a:spLocks noGrp="1"/>
          </p:cNvSpPr>
          <p:nvPr/>
        </p:nvSpPr>
        <p:spPr>
          <a:xfrm>
            <a:off x="8429625" y="25527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0.996300 / 1.000000</a:t>
            </a:r>
            <a:endParaRPr sz="1600" b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metric-cell-2-3"/>
          <p:cNvSpPr>
            <a:spLocks noGrp="1"/>
          </p:cNvSpPr>
          <p:nvPr/>
        </p:nvSpPr>
        <p:spPr>
          <a:xfrm>
            <a:off x="8429625" y="3209925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0.992100 / 0.986409</a:t>
            </a:r>
            <a:endParaRPr sz="1600" b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metric-cell-3-3"/>
          <p:cNvSpPr>
            <a:spLocks noGrp="1"/>
          </p:cNvSpPr>
          <p:nvPr/>
        </p:nvSpPr>
        <p:spPr>
          <a:xfrm>
            <a:off x="8429625" y="3867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15171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0.982400 / 0.974056</a:t>
            </a:r>
            <a:endParaRPr sz="1600" b="0">
              <a:solidFill>
                <a:srgbClr val="15171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nav-bg-6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6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6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6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6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6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6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6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6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○  ○  ○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6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6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6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6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073"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数据构造（2x / 3x）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6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6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6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6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6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6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otivation-observation"/>
          <p:cNvSpPr>
            <a:spLocks noGrp="1"/>
          </p:cNvSpPr>
          <p:nvPr/>
        </p:nvSpPr>
        <p:spPr>
          <a:xfrm>
            <a:off x="766445" y="2708910"/>
            <a:ext cx="9845675" cy="897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GEANT 中每个时刻、每个源—目的节点对以及每个优先级的流量需求统一按倍数缩放，构造更高的网络负载。</a:t>
            </a:r>
            <a:r>
              <a:rPr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</a:t>
            </a:r>
            <a:r>
              <a:rPr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GEANT2x </a:t>
            </a:r>
            <a:r>
              <a:rPr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GEANT3x </a:t>
            </a:r>
            <a:endParaRPr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nav-bg-6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6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6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6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6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6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6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6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6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●  ○  ○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6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6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6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6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思路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6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6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6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6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6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6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11"/>
          <p:cNvSpPr>
            <a:spLocks noGrp="1"/>
          </p:cNvSpPr>
          <p:nvPr/>
        </p:nvSpPr>
        <p:spPr>
          <a:xfrm>
            <a:off x="419100" y="14287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50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1" name="motivation-observation"/>
          <p:cNvSpPr>
            <a:spLocks noGrp="1"/>
          </p:cNvSpPr>
          <p:nvPr/>
        </p:nvSpPr>
        <p:spPr>
          <a:xfrm>
            <a:off x="767080" y="952500"/>
            <a:ext cx="10477500" cy="4878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高负载下，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仍接近参考值，但 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Medium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明显下降。通过实验验证了</a:t>
            </a: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在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High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的接收流量最大的方案中，“均衡”分配不一定能让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Medium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接收量最大</a:t>
            </a: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链路负载越重，使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Medium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接受量最大的</a:t>
            </a: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High 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分布越倾向于“不均衡”</a:t>
            </a: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GEANT 2x</a:t>
            </a: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 不同时间片“不均衡”的边集相似程度高</a:t>
            </a: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推测可以让系统学习这样的分配方式</a:t>
            </a: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000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motivation-mlu"/>
          <p:cNvSpPr>
            <a:spLocks noGrp="1"/>
          </p:cNvSpPr>
          <p:nvPr/>
        </p:nvSpPr>
        <p:spPr>
          <a:xfrm>
            <a:off x="419100" y="2781300"/>
            <a:ext cx="5334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5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4" name="text-13"/>
          <p:cNvSpPr>
            <a:spLocks noGrp="1"/>
          </p:cNvSpPr>
          <p:nvPr/>
        </p:nvSpPr>
        <p:spPr>
          <a:xfrm>
            <a:off x="6238875" y="1428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50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7" name="motivation-goal"/>
          <p:cNvSpPr>
            <a:spLocks noGrp="1"/>
          </p:cNvSpPr>
          <p:nvPr/>
        </p:nvSpPr>
        <p:spPr>
          <a:xfrm>
            <a:off x="6238875" y="3000375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sz="165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nav-bg-7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7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7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7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7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7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7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7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7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●  ○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7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7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7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7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改进方案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7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7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7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7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7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7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cheme-arrow-1"/>
          <p:cNvSpPr>
            <a:spLocks noGrp="1"/>
          </p:cNvSpPr>
          <p:nvPr/>
        </p:nvSpPr>
        <p:spPr>
          <a:xfrm>
            <a:off x="3358058" y="3672269"/>
            <a:ext cx="584454" cy="472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745" b="0" i="0">
                <a:solidFill>
                  <a:srgbClr val="3B39B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45" b="0" i="0">
                <a:solidFill>
                  <a:srgbClr val="3B39B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325" b="0" i="0">
              <a:solidFill>
                <a:srgbClr val="3B39B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scheme-arrow-2"/>
          <p:cNvSpPr>
            <a:spLocks noGrp="1"/>
          </p:cNvSpPr>
          <p:nvPr/>
        </p:nvSpPr>
        <p:spPr>
          <a:xfrm>
            <a:off x="7831379" y="3672269"/>
            <a:ext cx="584454" cy="472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745" b="0" i="0">
                <a:solidFill>
                  <a:srgbClr val="3B39B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45" b="0" i="0">
                <a:solidFill>
                  <a:srgbClr val="3B39B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325" b="0" i="0">
              <a:solidFill>
                <a:srgbClr val="3B39B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scheme-stage-1-number-bg"/>
          <p:cNvSpPr>
            <a:spLocks noGrp="1"/>
          </p:cNvSpPr>
          <p:nvPr/>
        </p:nvSpPr>
        <p:spPr>
          <a:xfrm>
            <a:off x="617868" y="2379726"/>
            <a:ext cx="382143" cy="382143"/>
          </a:xfrm>
          <a:prstGeom prst="ellipse">
            <a:avLst/>
          </a:prstGeom>
          <a:solidFill>
            <a:srgbClr val="3B39BE"/>
          </a:solidFill>
          <a:ln w="9525">
            <a:solidFill>
              <a:srgbClr val="3B39BE"/>
            </a:solidFill>
            <a:prstDash val="solid"/>
          </a:ln>
        </p:spPr>
      </p:sp>
      <p:sp>
        <p:nvSpPr>
          <p:cNvPr id="24" name="scheme-stage-1-number"/>
          <p:cNvSpPr>
            <a:spLocks noGrp="1"/>
          </p:cNvSpPr>
          <p:nvPr/>
        </p:nvSpPr>
        <p:spPr>
          <a:xfrm>
            <a:off x="617868" y="2390966"/>
            <a:ext cx="382143" cy="3596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scheme-stage-1-heading"/>
          <p:cNvSpPr>
            <a:spLocks noGrp="1"/>
          </p:cNvSpPr>
          <p:nvPr/>
        </p:nvSpPr>
        <p:spPr>
          <a:xfrm>
            <a:off x="1123645" y="2390966"/>
            <a:ext cx="2023110" cy="3821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预训练与选点</a:t>
            </a:r>
            <a:endParaRPr sz="1575" b="1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cheme-stage-1-box"/>
          <p:cNvSpPr>
            <a:spLocks noGrp="1"/>
          </p:cNvSpPr>
          <p:nvPr/>
        </p:nvSpPr>
        <p:spPr>
          <a:xfrm>
            <a:off x="617868" y="3054096"/>
            <a:ext cx="2495169" cy="1843278"/>
          </a:xfrm>
          <a:prstGeom prst="roundRect">
            <a:avLst>
              <a:gd name="adj" fmla="val 3871"/>
            </a:avLst>
          </a:prstGeom>
          <a:noFill/>
          <a:ln w="13335">
            <a:solidFill>
              <a:srgbClr val="D7D8F3"/>
            </a:solidFill>
            <a:prstDash val="solid"/>
          </a:ln>
        </p:spPr>
      </p:sp>
      <p:sp>
        <p:nvSpPr>
          <p:cNvPr id="27" name="scheme-stage-1-title"/>
          <p:cNvSpPr>
            <a:spLocks noGrp="1"/>
          </p:cNvSpPr>
          <p:nvPr/>
        </p:nvSpPr>
        <p:spPr>
          <a:xfrm>
            <a:off x="1000011" y="3388246"/>
            <a:ext cx="1779550" cy="3439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7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7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预训练</a:t>
            </a:r>
            <a:endParaRPr sz="1500" b="1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cheme-stage-1-body"/>
          <p:cNvSpPr>
            <a:spLocks noGrp="1"/>
          </p:cNvSpPr>
          <p:nvPr/>
        </p:nvSpPr>
        <p:spPr>
          <a:xfrm>
            <a:off x="1031240" y="3987165"/>
            <a:ext cx="1749425" cy="6521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05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20 epoch</a:t>
            </a:r>
            <a:endParaRPr sz="150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5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采用统一方法选择模型</a:t>
            </a:r>
            <a:endParaRPr lang="zh-CN" sz="155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cheme-stage-2-number-bg"/>
          <p:cNvSpPr>
            <a:spLocks noGrp="1"/>
          </p:cNvSpPr>
          <p:nvPr/>
        </p:nvSpPr>
        <p:spPr>
          <a:xfrm>
            <a:off x="4077386" y="2379726"/>
            <a:ext cx="382143" cy="382143"/>
          </a:xfrm>
          <a:prstGeom prst="ellipse">
            <a:avLst/>
          </a:prstGeom>
          <a:solidFill>
            <a:srgbClr val="3B39BE"/>
          </a:solidFill>
          <a:ln w="9525">
            <a:solidFill>
              <a:srgbClr val="3B39BE"/>
            </a:solidFill>
            <a:prstDash val="solid"/>
          </a:ln>
        </p:spPr>
      </p:sp>
      <p:sp>
        <p:nvSpPr>
          <p:cNvPr id="30" name="scheme-stage-2-number"/>
          <p:cNvSpPr>
            <a:spLocks noGrp="1"/>
          </p:cNvSpPr>
          <p:nvPr/>
        </p:nvSpPr>
        <p:spPr>
          <a:xfrm>
            <a:off x="4077386" y="2390966"/>
            <a:ext cx="382143" cy="3596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scheme-stage-2-heading"/>
          <p:cNvSpPr>
            <a:spLocks noGrp="1"/>
          </p:cNvSpPr>
          <p:nvPr/>
        </p:nvSpPr>
        <p:spPr>
          <a:xfrm>
            <a:off x="4583163" y="2390966"/>
            <a:ext cx="2809875" cy="3821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两组投影梯度</a:t>
            </a:r>
            <a:endParaRPr sz="1575" b="1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cheme-g1-box"/>
          <p:cNvSpPr>
            <a:spLocks noGrp="1"/>
          </p:cNvSpPr>
          <p:nvPr/>
        </p:nvSpPr>
        <p:spPr>
          <a:xfrm>
            <a:off x="4077386" y="3054096"/>
            <a:ext cx="3753993" cy="809244"/>
          </a:xfrm>
          <a:prstGeom prst="roundRect">
            <a:avLst>
              <a:gd name="adj" fmla="val 8333"/>
            </a:avLst>
          </a:prstGeom>
          <a:noFill/>
          <a:ln w="13335">
            <a:solidFill>
              <a:srgbClr val="3B39BE"/>
            </a:solidFill>
            <a:prstDash val="solid"/>
          </a:ln>
        </p:spPr>
      </p:sp>
      <p:sp>
        <p:nvSpPr>
          <p:cNvPr id="33" name="scheme-g1-title"/>
          <p:cNvSpPr>
            <a:spLocks noGrp="1"/>
          </p:cNvSpPr>
          <p:nvPr/>
        </p:nvSpPr>
        <p:spPr>
          <a:xfrm>
            <a:off x="4279697" y="3200210"/>
            <a:ext cx="651891" cy="472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25" b="1" i="0">
                <a:solidFill>
                  <a:srgbClr val="3B39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25" b="1" i="0">
                <a:solidFill>
                  <a:srgbClr val="3B39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g₁</a:t>
            </a:r>
            <a:endParaRPr sz="1800" b="1" i="0">
              <a:solidFill>
                <a:srgbClr val="3B39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52" name="scheme-g1-body"/>
          <p:cNvSpPr>
            <a:spLocks noGrp="1"/>
          </p:cNvSpPr>
          <p:nvPr/>
        </p:nvSpPr>
        <p:spPr>
          <a:xfrm>
            <a:off x="5066462" y="3132773"/>
            <a:ext cx="2528888" cy="651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原六项目标</a:t>
            </a:r>
            <a:endParaRPr sz="127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FulfillRatio + MLU</a:t>
            </a:r>
            <a:endParaRPr sz="127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scheme-g2-box"/>
          <p:cNvSpPr>
            <a:spLocks noGrp="1"/>
          </p:cNvSpPr>
          <p:nvPr/>
        </p:nvSpPr>
        <p:spPr>
          <a:xfrm>
            <a:off x="4077386" y="4088130"/>
            <a:ext cx="3753993" cy="809244"/>
          </a:xfrm>
          <a:prstGeom prst="roundRect">
            <a:avLst>
              <a:gd name="adj" fmla="val 8333"/>
            </a:avLst>
          </a:prstGeom>
          <a:noFill/>
          <a:ln w="13335">
            <a:solidFill>
              <a:srgbClr val="62677A"/>
            </a:solidFill>
            <a:prstDash val="solid"/>
          </a:ln>
        </p:spPr>
      </p:sp>
      <p:sp>
        <p:nvSpPr>
          <p:cNvPr id="54" name="scheme-g2-title"/>
          <p:cNvSpPr>
            <a:spLocks noGrp="1"/>
          </p:cNvSpPr>
          <p:nvPr/>
        </p:nvSpPr>
        <p:spPr>
          <a:xfrm>
            <a:off x="4279697" y="4234244"/>
            <a:ext cx="651891" cy="472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25" b="1" i="0">
                <a:solidFill>
                  <a:srgbClr val="62677A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25" b="1" i="0">
                <a:solidFill>
                  <a:srgbClr val="62677A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g₂</a:t>
            </a:r>
            <a:endParaRPr sz="1800" b="1" i="0">
              <a:solidFill>
                <a:srgbClr val="62677A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55" name="scheme-g2-body"/>
          <p:cNvSpPr>
            <a:spLocks noGrp="1"/>
          </p:cNvSpPr>
          <p:nvPr/>
        </p:nvSpPr>
        <p:spPr>
          <a:xfrm>
            <a:off x="5066462" y="4166807"/>
            <a:ext cx="2528888" cy="651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三项流量目标</a:t>
            </a:r>
            <a:endParaRPr sz="127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5" b="0" i="0">
                <a:solidFill>
                  <a:srgbClr val="1517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FulfillRatio</a:t>
            </a:r>
            <a:endParaRPr sz="1275" b="0" i="0">
              <a:solidFill>
                <a:srgbClr val="1517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scheme-stage-3-number-bg"/>
          <p:cNvSpPr>
            <a:spLocks noGrp="1"/>
          </p:cNvSpPr>
          <p:nvPr/>
        </p:nvSpPr>
        <p:spPr>
          <a:xfrm>
            <a:off x="8550707" y="2379726"/>
            <a:ext cx="382143" cy="382143"/>
          </a:xfrm>
          <a:prstGeom prst="ellipse">
            <a:avLst/>
          </a:prstGeom>
          <a:solidFill>
            <a:srgbClr val="3B39BE"/>
          </a:solidFill>
          <a:ln w="9525">
            <a:solidFill>
              <a:srgbClr val="3B39BE"/>
            </a:solidFill>
            <a:prstDash val="solid"/>
          </a:ln>
        </p:spPr>
      </p:sp>
      <p:sp>
        <p:nvSpPr>
          <p:cNvPr id="57" name="scheme-stage-3-number"/>
          <p:cNvSpPr>
            <a:spLocks noGrp="1"/>
          </p:cNvSpPr>
          <p:nvPr/>
        </p:nvSpPr>
        <p:spPr>
          <a:xfrm>
            <a:off x="8550707" y="2390966"/>
            <a:ext cx="382143" cy="3596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scheme-stage-3-heading"/>
          <p:cNvSpPr>
            <a:spLocks noGrp="1"/>
          </p:cNvSpPr>
          <p:nvPr/>
        </p:nvSpPr>
        <p:spPr>
          <a:xfrm>
            <a:off x="9056484" y="2390966"/>
            <a:ext cx="2023110" cy="3821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6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余弦过渡</a:t>
            </a:r>
            <a:endParaRPr sz="1575" b="1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scheme-mix-box"/>
          <p:cNvSpPr>
            <a:spLocks noGrp="1"/>
          </p:cNvSpPr>
          <p:nvPr/>
        </p:nvSpPr>
        <p:spPr>
          <a:xfrm>
            <a:off x="8550707" y="3054096"/>
            <a:ext cx="3023425" cy="1843278"/>
          </a:xfrm>
          <a:prstGeom prst="roundRect">
            <a:avLst>
              <a:gd name="adj" fmla="val 3659"/>
            </a:avLst>
          </a:prstGeom>
          <a:noFill/>
          <a:ln w="17145">
            <a:solidFill>
              <a:srgbClr val="3B39BE"/>
            </a:solidFill>
            <a:prstDash val="solid"/>
          </a:ln>
        </p:spPr>
      </p:sp>
      <p:sp>
        <p:nvSpPr>
          <p:cNvPr id="60" name="scheme-mix-formula"/>
          <p:cNvSpPr>
            <a:spLocks noGrp="1"/>
          </p:cNvSpPr>
          <p:nvPr/>
        </p:nvSpPr>
        <p:spPr>
          <a:xfrm>
            <a:off x="8775497" y="3732175"/>
            <a:ext cx="2573845" cy="472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945" b="1" i="0">
                <a:solidFill>
                  <a:srgbClr val="18185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945" b="1" i="0">
                <a:solidFill>
                  <a:srgbClr val="18185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g = αᵢ g₁ + (1 − αᵢ) g₂</a:t>
            </a:r>
            <a:endParaRPr sz="1650" b="1" i="0">
              <a:solidFill>
                <a:srgbClr val="18185B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nav-bg-8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8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8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8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8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8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8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8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8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●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8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8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8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8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改进结果：2x / 3x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8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8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8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8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8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8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17"/>
          <p:cNvSpPr>
            <a:spLocks noGrp="1"/>
          </p:cNvSpPr>
          <p:nvPr/>
        </p:nvSpPr>
        <p:spPr>
          <a:xfrm>
            <a:off x="1257300" y="22860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2x 负载</a:t>
            </a:r>
            <a:endParaRPr sz="1875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1" name="text-18"/>
          <p:cNvSpPr>
            <a:spLocks noGrp="1"/>
          </p:cNvSpPr>
          <p:nvPr/>
        </p:nvSpPr>
        <p:spPr>
          <a:xfrm>
            <a:off x="1257300" y="47625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3x 负载</a:t>
            </a:r>
            <a:endParaRPr sz="1875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0" y="1257300"/>
            <a:ext cx="6667500" cy="2495550"/>
          </a:xfrm>
          <a:prstGeom prst="rect">
            <a:avLst/>
          </a:prstGeom>
        </p:spPr>
      </p:pic>
      <p:pic>
        <p:nvPicPr>
          <p:cNvPr id="55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3752850"/>
            <a:ext cx="666750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nav-bg-8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8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8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8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8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8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8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8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8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●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8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8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8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8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20000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改进结果：1x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8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8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8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8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8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8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862455"/>
            <a:ext cx="8763000" cy="3286125"/>
          </a:xfrm>
          <a:prstGeom prst="rect">
            <a:avLst/>
          </a:prstGeom>
        </p:spPr>
      </p:pic>
      <p:sp>
        <p:nvSpPr>
          <p:cNvPr id="21" name="text-17"/>
          <p:cNvSpPr>
            <a:spLocks noGrp="1"/>
          </p:cNvSpPr>
          <p:nvPr/>
        </p:nvSpPr>
        <p:spPr>
          <a:xfrm>
            <a:off x="628650" y="32131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b="1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负载</a:t>
            </a:r>
            <a:endParaRPr sz="1875" b="0" i="0">
              <a:solidFill>
                <a:srgbClr val="3B39BE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nav-bg-9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9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9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9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9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9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9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9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9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9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9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○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itlebar-9"/>
          <p:cNvSpPr>
            <a:spLocks noGrp="1"/>
          </p:cNvSpPr>
          <p:nvPr/>
        </p:nvSpPr>
        <p:spPr>
          <a:xfrm>
            <a:off x="0" y="495300"/>
            <a:ext cx="12192000" cy="53340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slide-title-9"/>
          <p:cNvSpPr>
            <a:spLocks noGrp="1"/>
          </p:cNvSpPr>
          <p:nvPr/>
        </p:nvSpPr>
        <p:spPr>
          <a:xfrm>
            <a:off x="295275" y="581025"/>
            <a:ext cx="11239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3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ooter-one-9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5" name="footer-two-9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6" name="footer-author-9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school-9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ooter-title-9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oter-page-9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22"/>
          <p:cNvSpPr>
            <a:spLocks noGrp="1"/>
          </p:cNvSpPr>
          <p:nvPr/>
        </p:nvSpPr>
        <p:spPr>
          <a:xfrm>
            <a:off x="419100" y="2146300"/>
            <a:ext cx="2286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80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复现结论</a:t>
            </a:r>
            <a:endParaRPr sz="1800" b="0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ummary-body-1"/>
          <p:cNvSpPr>
            <a:spLocks noGrp="1"/>
          </p:cNvSpPr>
          <p:nvPr/>
        </p:nvSpPr>
        <p:spPr>
          <a:xfrm>
            <a:off x="419100" y="2536825"/>
            <a:ext cx="1123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20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当前 GEANT 配置下，Hattrick 的关键分位指标接近论文结果</a:t>
            </a:r>
            <a:r>
              <a:rPr sz="20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sz="20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2" name="text-23"/>
          <p:cNvSpPr>
            <a:spLocks noGrp="1"/>
          </p:cNvSpPr>
          <p:nvPr/>
        </p:nvSpPr>
        <p:spPr>
          <a:xfrm>
            <a:off x="419100" y="4292600"/>
            <a:ext cx="2286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3B39B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1800" b="0" i="0">
                <a:solidFill>
                  <a:srgbClr val="3B3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改进结论</a:t>
            </a:r>
            <a:endParaRPr sz="1800" b="0" i="0">
              <a:solidFill>
                <a:srgbClr val="3B3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ummary-body-2"/>
          <p:cNvSpPr>
            <a:spLocks noGrp="1"/>
          </p:cNvSpPr>
          <p:nvPr/>
        </p:nvSpPr>
        <p:spPr>
          <a:xfrm>
            <a:off x="419100" y="4683125"/>
            <a:ext cx="1123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20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高负载下观察到 Medium 分布改善，同时伴随部分 Low 分布回落</a:t>
            </a:r>
            <a:r>
              <a:rPr sz="2000" b="0" i="0">
                <a:solidFill>
                  <a:srgbClr val="15171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sz="2000" b="0" i="0">
              <a:solidFill>
                <a:srgbClr val="15171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nav-bg-10"/>
          <p:cNvSpPr>
            <a:spLocks noGrp="1"/>
          </p:cNvSpPr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2" name="nav-10-1"/>
          <p:cNvSpPr>
            <a:spLocks noGrp="1"/>
          </p:cNvSpPr>
          <p:nvPr/>
        </p:nvSpPr>
        <p:spPr>
          <a:xfrm>
            <a:off x="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dots-10-1"/>
          <p:cNvSpPr>
            <a:spLocks noGrp="1"/>
          </p:cNvSpPr>
          <p:nvPr/>
        </p:nvSpPr>
        <p:spPr>
          <a:xfrm>
            <a:off x="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av-10-2"/>
          <p:cNvSpPr>
            <a:spLocks noGrp="1"/>
          </p:cNvSpPr>
          <p:nvPr/>
        </p:nvSpPr>
        <p:spPr>
          <a:xfrm>
            <a:off x="24384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nav-dots-10-2"/>
          <p:cNvSpPr>
            <a:spLocks noGrp="1"/>
          </p:cNvSpPr>
          <p:nvPr/>
        </p:nvSpPr>
        <p:spPr>
          <a:xfrm>
            <a:off x="24384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av-10-3"/>
          <p:cNvSpPr>
            <a:spLocks noGrp="1"/>
          </p:cNvSpPr>
          <p:nvPr/>
        </p:nvSpPr>
        <p:spPr>
          <a:xfrm>
            <a:off x="48768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复现结果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nav-dots-10-3"/>
          <p:cNvSpPr>
            <a:spLocks noGrp="1"/>
          </p:cNvSpPr>
          <p:nvPr/>
        </p:nvSpPr>
        <p:spPr>
          <a:xfrm>
            <a:off x="48768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av-10-4"/>
          <p:cNvSpPr>
            <a:spLocks noGrp="1"/>
          </p:cNvSpPr>
          <p:nvPr/>
        </p:nvSpPr>
        <p:spPr>
          <a:xfrm>
            <a:off x="73152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改进实验</a:t>
            </a:r>
            <a:endParaRPr sz="127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av-dots-10-4"/>
          <p:cNvSpPr>
            <a:spLocks noGrp="1"/>
          </p:cNvSpPr>
          <p:nvPr/>
        </p:nvSpPr>
        <p:spPr>
          <a:xfrm>
            <a:off x="73152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D7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○  ○  ○  ○</a:t>
            </a:r>
            <a:endParaRPr sz="525" b="0" i="0">
              <a:solidFill>
                <a:srgbClr val="D7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nav-10-5"/>
          <p:cNvSpPr>
            <a:spLocks noGrp="1"/>
          </p:cNvSpPr>
          <p:nvPr/>
        </p:nvSpPr>
        <p:spPr>
          <a:xfrm>
            <a:off x="9753600" y="114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av-dots-10-5"/>
          <p:cNvSpPr>
            <a:spLocks noGrp="1"/>
          </p:cNvSpPr>
          <p:nvPr/>
        </p:nvSpPr>
        <p:spPr>
          <a:xfrm>
            <a:off x="9753600" y="333375"/>
            <a:ext cx="24384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●</a:t>
            </a:r>
            <a:endParaRPr sz="5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ooter-one-10"/>
          <p:cNvSpPr>
            <a:spLocks noGrp="1"/>
          </p:cNvSpPr>
          <p:nvPr/>
        </p:nvSpPr>
        <p:spPr>
          <a:xfrm>
            <a:off x="0" y="6438900"/>
            <a:ext cx="12192000" cy="209550"/>
          </a:xfrm>
          <a:prstGeom prst="rect">
            <a:avLst/>
          </a:prstGeom>
          <a:solidFill>
            <a:srgbClr val="3B39BE"/>
          </a:solidFill>
          <a:ln w="0">
            <a:noFill/>
            <a:prstDash val="solid"/>
          </a:ln>
        </p:spPr>
      </p:sp>
      <p:sp>
        <p:nvSpPr>
          <p:cNvPr id="13" name="footer-two-10"/>
          <p:cNvSpPr>
            <a:spLocks noGrp="1"/>
          </p:cNvSpPr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8185B"/>
          </a:solidFill>
          <a:ln w="0">
            <a:noFill/>
            <a:prstDash val="solid"/>
          </a:ln>
        </p:spPr>
      </p:sp>
      <p:sp>
        <p:nvSpPr>
          <p:cNvPr id="14" name="footer-author-10"/>
          <p:cNvSpPr>
            <a:spLocks noGrp="1"/>
          </p:cNvSpPr>
          <p:nvPr/>
        </p:nvSpPr>
        <p:spPr>
          <a:xfrm>
            <a:off x="171450" y="64579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李天阳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ooter-school-10"/>
          <p:cNvSpPr>
            <a:spLocks noGrp="1"/>
          </p:cNvSpPr>
          <p:nvPr/>
        </p:nvSpPr>
        <p:spPr>
          <a:xfrm>
            <a:off x="10001250" y="6457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北京邮电大学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ooter-title-10"/>
          <p:cNvSpPr>
            <a:spLocks noGrp="1"/>
          </p:cNvSpPr>
          <p:nvPr/>
        </p:nvSpPr>
        <p:spPr>
          <a:xfrm>
            <a:off x="171450" y="66675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Hattrick 复现与改进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ooter-page-10"/>
          <p:cNvSpPr>
            <a:spLocks noGrp="1"/>
          </p:cNvSpPr>
          <p:nvPr/>
        </p:nvSpPr>
        <p:spPr>
          <a:xfrm>
            <a:off x="10668000" y="6667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13</a:t>
            </a:r>
            <a:endParaRPr sz="82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hanks-title"/>
          <p:cNvSpPr>
            <a:spLocks noGrp="1"/>
          </p:cNvSpPr>
          <p:nvPr/>
        </p:nvSpPr>
        <p:spPr>
          <a:xfrm>
            <a:off x="4095750" y="2333625"/>
            <a:ext cx="4000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4350" b="1" i="0">
                <a:solidFill>
                  <a:srgbClr val="18185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350" b="1" i="0">
                <a:solidFill>
                  <a:srgbClr val="18185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谢谢！</a:t>
            </a:r>
            <a:endParaRPr sz="4350" b="1" i="0">
              <a:solidFill>
                <a:srgbClr val="18185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4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4650659"/>
            <a:ext cx="4191000" cy="11285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2398</Words>
  <Application>WPS 演示</Application>
  <PresentationFormat>Converted Presentation</PresentationFormat>
  <Paragraphs>520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楷体</vt:lpstr>
      <vt:lpstr>Cambria Math</vt:lpstr>
      <vt:lpstr>Arial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</cp:lastModifiedBy>
  <cp:revision>3</cp:revision>
  <dcterms:created xsi:type="dcterms:W3CDTF">2026-09-02T05:53:00Z</dcterms:created>
  <dcterms:modified xsi:type="dcterms:W3CDTF">2026-09-02T09:20:02Z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518CE7158C85486C9E06076B204C4BF8_12</vt:lpwstr>
  </property>
</Properties>
</file>